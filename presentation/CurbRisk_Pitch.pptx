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0"/>
            <a:ext cx="12191695" cy="45720"/>
          </a:xfrm>
          <a:prstGeom prst="rect">
            <a:avLst/>
          </a:prstGeom>
          <a:solidFill>
            <a:srgbClr val="2E9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E9CDB"/>
                </a:solidFill>
                <a:latin typeface="Calibri"/>
              </a:rPr>
              <a:t>CURBRISK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Find the puddle before</a:t>
            </a:r>
          </a:p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it floods the basement.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690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2E9CDB"/>
                </a:solidFill>
                <a:latin typeface="Calibri"/>
              </a:rPr>
              <a:t>Curb-level drainage risk, surveyed in days — not a FEMA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Cyvl Hackathon 2026  ·  Somerville, MA demo footprint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9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9CDB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Existing flood maps miss where streets actually fail.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035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0195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FOR INSURERS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FEMA maps are coarse and stale.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48463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FEMA flood maps refresh on 5–10 year cycles and</a:t>
            </a:r>
          </a:p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average risk across entire zones. The crest house and</a:t>
            </a:r>
          </a:p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the low-point house on the same block carry the same</a:t>
            </a:r>
          </a:p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premium — and most flood losses happen outside the</a:t>
            </a:r>
          </a:p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official zone, at street drainage failures the map</a:t>
            </a:r>
          </a:p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never sees.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828800"/>
            <a:ext cx="5303520" cy="42062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828800"/>
            <a:ext cx="53035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90195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FOR CITIES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4688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Street drainage gaps stay invisible.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108960"/>
            <a:ext cx="48463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Undersized basins, missing inlets, and ponding pockets</a:t>
            </a:r>
          </a:p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don't appear on any flood map. Cities only learn about</a:t>
            </a:r>
          </a:p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them through 311 complaints, after basements flood.</a:t>
            </a:r>
          </a:p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Streets get repaved over unresolved drainage and fail</a:t>
            </a:r>
          </a:p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again in 18 months — and 1970s-era basins now carry</a:t>
            </a:r>
          </a:p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2020s-era storm loads.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562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CurbRisk  ·  Cyvl Hackathon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9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9CDB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Find every street drainage gap — in days, not years.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11680"/>
            <a:ext cx="2594610" cy="1554480"/>
          </a:xfrm>
          <a:prstGeom prst="rect">
            <a:avLst/>
          </a:prstGeom>
          <a:solidFill>
            <a:srgbClr val="2E9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232029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LiDAR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232029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53.5M points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road-surface DEM</a:t>
            </a:r>
          </a:p>
        </p:txBody>
      </p:sp>
      <p:sp>
        <p:nvSpPr>
          <p:cNvPr id="9" name="Right Triangle 8"/>
          <p:cNvSpPr/>
          <p:nvPr/>
        </p:nvSpPr>
        <p:spPr>
          <a:xfrm rot="5400000">
            <a:off x="3280410" y="2697480"/>
            <a:ext cx="164592" cy="182880"/>
          </a:xfrm>
          <a:prstGeom prst="rtTriangl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17570" y="2011680"/>
            <a:ext cx="2594610" cy="1554480"/>
          </a:xfrm>
          <a:prstGeom prst="rect">
            <a:avLst/>
          </a:prstGeom>
          <a:solidFill>
            <a:srgbClr val="2E9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4730" y="2194560"/>
            <a:ext cx="232029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Hydrology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4730" y="2743200"/>
            <a:ext cx="232029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low-point detection,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catchment + 2-in ponding</a:t>
            </a:r>
          </a:p>
        </p:txBody>
      </p:sp>
      <p:sp>
        <p:nvSpPr>
          <p:cNvPr id="13" name="Right Triangle 12"/>
          <p:cNvSpPr/>
          <p:nvPr/>
        </p:nvSpPr>
        <p:spPr>
          <a:xfrm rot="5400000">
            <a:off x="6012180" y="2697480"/>
            <a:ext cx="164592" cy="182880"/>
          </a:xfrm>
          <a:prstGeom prst="rtTriangl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9340" y="2011680"/>
            <a:ext cx="2594610" cy="1554480"/>
          </a:xfrm>
          <a:prstGeom prst="rect">
            <a:avLst/>
          </a:prstGeom>
          <a:solidFill>
            <a:srgbClr val="2E9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6500" y="2194560"/>
            <a:ext cx="232029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500" y="2743200"/>
            <a:ext cx="232029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topo 40 / PCI 30 /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basin 20 / 311 10</a:t>
            </a:r>
          </a:p>
        </p:txBody>
      </p:sp>
      <p:sp>
        <p:nvSpPr>
          <p:cNvPr id="17" name="Right Triangle 16"/>
          <p:cNvSpPr/>
          <p:nvPr/>
        </p:nvSpPr>
        <p:spPr>
          <a:xfrm rot="5400000">
            <a:off x="8743950" y="2697480"/>
            <a:ext cx="164592" cy="182880"/>
          </a:xfrm>
          <a:prstGeom prst="rtTriangl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81110" y="2011680"/>
            <a:ext cx="2594610" cy="1554480"/>
          </a:xfrm>
          <a:prstGeom prst="rect">
            <a:avLst/>
          </a:prstGeom>
          <a:solidFill>
            <a:srgbClr val="2E9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8270" y="2194560"/>
            <a:ext cx="232029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Deliver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8270" y="2743200"/>
            <a:ext cx="232029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APS cross-section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+ address API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023360"/>
            <a:ext cx="10789920" cy="13716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1148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9CDB"/>
                </a:solidFill>
                <a:latin typeface="Calibri"/>
              </a:rPr>
              <a:t>WHAT COMES 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48056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Every drainage gap on every street, scored 0–100 per 30-ft segment, with a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browser-viewable 3D cross-section of each low point. A city in weeks, not a FEMA cycle.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A8C"/>
                </a:solidFill>
                <a:latin typeface="Calibri"/>
              </a:rPr>
              <a:t>Demo footprint: 1 Somerville tile · 5,080 pavement sections · 381 catch basins · 145 flooding 311s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562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CurbRisk  ·  Cyvl Hackathon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9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9CDB"/>
                </a:solidFill>
                <a:latin typeface="Calibri"/>
              </a:rPr>
              <a:t>WHY IT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Faster, finer, and built around the street itself.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5394960" cy="19202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109728" cy="1920240"/>
          </a:xfrm>
          <a:prstGeom prst="rect">
            <a:avLst/>
          </a:prstGeom>
          <a:solidFill>
            <a:srgbClr val="2E9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93392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Days, not decades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42032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Calibri"/>
              </a:rPr>
              <a:t>FEMA flood maps refresh on 5–10 year cycles. Cyvl mobile LiDAR scans a city in a single drive; CurbRisk re-scores the network in days. Drainage projects don't have to wait on a federal map update.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8800"/>
            <a:ext cx="5394960" cy="19202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828800"/>
            <a:ext cx="109728" cy="1920240"/>
          </a:xfrm>
          <a:prstGeom prst="rect">
            <a:avLst/>
          </a:prstGeom>
          <a:solidFill>
            <a:srgbClr val="1E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93392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Curb-level, not zone-level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542032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Calibri"/>
              </a:rPr>
              <a:t>FEMA averages risk across whole zones. CurbRisk scores every 30-ft pavement segment and every detected low point — measured terrain, local impervious cover, real complaint history.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931920"/>
            <a:ext cx="5394960" cy="19202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931920"/>
            <a:ext cx="109728" cy="19202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96512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Street drainage gaps, not just floodplains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645152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Calibri"/>
              </a:rPr>
              <a:t>Identifies undersized basins, missing inlets, ponding pockets, and flow-concentration points — the failure mode that floods basements outside the official flood zone, that no flood map shows.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931920"/>
            <a:ext cx="5394960" cy="19202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931920"/>
            <a:ext cx="109728" cy="1920240"/>
          </a:xfrm>
          <a:prstGeom prst="rect">
            <a:avLst/>
          </a:prstGeom>
          <a:solidFill>
            <a:srgbClr val="E0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096512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Validated + Autodesk-delivered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645152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Calibri"/>
              </a:rPr>
              <a:t>144 Somerville flooding 311s ground-truth the model. Every flagged location exports as a browser-viewable APS cross-section — engineers in Civil 3D, underwriters in a browser.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9CDB"/>
                </a:solidFill>
                <a:latin typeface="Calibri"/>
              </a:rPr>
              <a:t>Where FEMA gives you a polygon every 5 years, CurbRisk gives you every drainage gap on every street, this month.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562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CurbRisk  ·  Cyvl Hackathon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9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9CDB"/>
                </a:solidFill>
                <a:latin typeface="Calibri"/>
              </a:rPr>
              <a:t>BUYERS &amp;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Two markets, one engine.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83080"/>
            <a:ext cx="5394960" cy="4389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9CDB"/>
                </a:solidFill>
                <a:latin typeface="Calibri"/>
              </a:rPr>
              <a:t>PRIMARY  ·  INSURANCE &amp;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Address-level flood pricing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·  Underwriters: per-query API at point of sale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·  Actuaries: portfolio loss exposure below the FEMA zone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·  Cat modelers (RMS, Verisk): bulk dataset license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Differentiates premiums between the crest house and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the low-point house on the same block.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394960" cy="438912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5394960" cy="365760"/>
          </a:xfrm>
          <a:prstGeom prst="rect">
            <a:avLst/>
          </a:prstGeom>
          <a:solidFill>
            <a:srgbClr val="2E9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SECONDARY  ·  MUNICIPAL DPW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3172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Calibri"/>
              </a:rPr>
              <a:t>Defensible capital prioritization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10896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0B1F3A"/>
                </a:solidFill>
                <a:latin typeface="Calibri"/>
              </a:rPr>
              <a:t>·  Stop repaving over unresolved drainage</a:t>
            </a:r>
          </a:p>
          <a:p>
            <a:pPr algn="l"/>
            <a:r>
              <a:rPr sz="1400" b="0">
                <a:solidFill>
                  <a:srgbClr val="0B1F3A"/>
                </a:solidFill>
                <a:latin typeface="Calibri"/>
              </a:rPr>
              <a:t>·  Auto-generate MS4 / NPDES gap analysis</a:t>
            </a:r>
          </a:p>
          <a:p>
            <a:pPr algn="l"/>
            <a:r>
              <a:rPr sz="1400" b="0">
                <a:solidFill>
                  <a:srgbClr val="0B1F3A"/>
                </a:solidFill>
                <a:latin typeface="Calibri"/>
              </a:rPr>
              <a:t>·  Hand civil engineers a Civil 3D starting model</a:t>
            </a:r>
          </a:p>
          <a:p>
            <a:pPr algn="l"/>
            <a:r>
              <a:rPr sz="1400" b="0">
                <a:solidFill>
                  <a:srgbClr val="0B1F3A"/>
                </a:solidFill>
                <a:latin typeface="Calibri"/>
              </a:rPr>
              <a:t>·  Move to the front of FEMA BRIC / EPA CWSRF queues</a:t>
            </a:r>
          </a:p>
          <a:p>
            <a:pPr algn="l"/>
            <a:r>
              <a:rPr sz="1400" b="0">
                <a:solidFill>
                  <a:srgbClr val="0B1F3A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0B1F3A"/>
                </a:solidFill>
                <a:latin typeface="Calibri"/>
              </a:rPr>
              <a:t>Replaces complaint-driven politics with a ranked, auditable list.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562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CurbRisk  ·  Cyvl Hackathon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9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9CDB"/>
                </a:solidFill>
                <a:latin typeface="Calibri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Address in. Drainage risk out. Under 10 seconds.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03120"/>
            <a:ext cx="3291840" cy="914400"/>
          </a:xfrm>
          <a:prstGeom prst="rect">
            <a:avLst/>
          </a:prstGeom>
          <a:solidFill>
            <a:srgbClr val="F2F5F8"/>
          </a:solidFill>
          <a:ln w="9525">
            <a:solidFill>
              <a:srgbClr val="2E9C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E9CDB"/>
                </a:solidFill>
                <a:latin typeface="Calibri"/>
              </a:rPr>
              <a:t>JUDGE ENTERS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93 Highland Ave</a:t>
            </a:r>
          </a:p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Somerville, MA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14800" y="2377440"/>
            <a:ext cx="548640" cy="365760"/>
          </a:xfrm>
          <a:prstGeom prst="rightArrow">
            <a:avLst/>
          </a:prstGeom>
          <a:solidFill>
            <a:srgbClr val="2E9C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46320" y="2103120"/>
            <a:ext cx="3291840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21945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E9CDB"/>
                </a:solidFill>
                <a:latin typeface="Calibri"/>
              </a:rPr>
              <a:t>CURBRISK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4688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Geocode → segment lookup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SQLite score cache hit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275320" y="2377440"/>
            <a:ext cx="548640" cy="365760"/>
          </a:xfrm>
          <a:prstGeom prst="rightArrow">
            <a:avLst/>
          </a:prstGeom>
          <a:solidFill>
            <a:srgbClr val="2E9C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006840" y="2103120"/>
            <a:ext cx="2743200" cy="914400"/>
          </a:xfrm>
          <a:prstGeom prst="rect">
            <a:avLst/>
          </a:prstGeom>
          <a:solidFill>
            <a:srgbClr val="E0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20" y="21945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CURBRISK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246888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78 / 100  ·  HIGH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657600"/>
            <a:ext cx="10789920" cy="2286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94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9CDB"/>
                </a:solidFill>
                <a:latin typeface="Calibri"/>
              </a:rPr>
              <a:t>RESPONSE PAYLOAD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1605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libri"/>
              </a:rPr>
              <a:t>·  Score breakdown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160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topo 32 · pavement 21 · basin 18 · complaints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50799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libri"/>
              </a:rPr>
              <a:t>·  LiDAR geometry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450799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low-point depth, 2-in ponding volume, catchment polygon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855464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libri"/>
              </a:rPr>
              <a:t>·  311 history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4855464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3 flooding reports within 100 m since 2023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202936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libri"/>
              </a:rPr>
              <a:t>·  APS cross-section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5202936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browser-viewable 3D profile — no CAD software needed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55040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libri"/>
              </a:rPr>
              <a:t>·  Recommended 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55504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clear upstream basin; do not resurface until drainage resolved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5562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CurbRisk  ·  Cyvl Hackathon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1695" cy="45720"/>
          </a:xfrm>
          <a:prstGeom prst="rect">
            <a:avLst/>
          </a:prstGeom>
          <a:solidFill>
            <a:srgbClr val="2E9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E9CDB"/>
                </a:solidFill>
                <a:latin typeface="Calibr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From one Somerville tile to a city-wide risk layer.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356616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3566160" cy="365760"/>
          </a:xfrm>
          <a:prstGeom prst="rect">
            <a:avLst/>
          </a:prstGeom>
          <a:solidFill>
            <a:srgbClr val="2E9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Hackathon MVP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290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One Somerville tile end-to-end. Address → score + APS cross-section in &lt; 10 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2377440"/>
            <a:ext cx="356616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2377440"/>
            <a:ext cx="3566160" cy="365760"/>
          </a:xfrm>
          <a:prstGeom prst="rect">
            <a:avLst/>
          </a:prstGeom>
          <a:solidFill>
            <a:srgbClr val="2E9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42316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Paid 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4290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$20–50K fixed-scope study with a Somerville-style city. One paving package, one Autodesk model, one reference customer.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377440"/>
            <a:ext cx="356616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2377440"/>
            <a:ext cx="3566160" cy="365760"/>
          </a:xfrm>
          <a:prstGeom prst="rect">
            <a:avLst/>
          </a:prstGeom>
          <a:solidFill>
            <a:srgbClr val="2E9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42316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THEN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Insurer dataset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4290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Bulk drainage-risk layer for one metro area, licensed to a cat modeler. Recurring revenue, no per-city sales cycle.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E9CDB"/>
                </a:solidFill>
                <a:latin typeface="Calibri"/>
              </a:rPr>
              <a:t>Stop waiting on a federal map cycle to find a failing catch basin.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Score every street drainage gap, every block, every month.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562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CurbRisk  ·  Cyvl Hackathon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