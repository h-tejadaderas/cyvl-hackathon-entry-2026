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91695" cy="4572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9CDB"/>
                </a:solidFill>
                <a:latin typeface="Calibri"/>
              </a:rPr>
              <a:t>CURBRISK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Find the puddle before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it floods the basement.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2E9CDB"/>
                </a:solidFill>
                <a:latin typeface="Calibri"/>
              </a:rPr>
              <a:t>Street-level drainage risk scoring from LiDAR + pavement + 311.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Cyvl Hackathon 2026  ·  Somerville, MA demo footprint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Cities and insurers price flood risk with the wrong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303520" cy="4206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035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FOR INSURERS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FEMA zones stop at the parcel.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Two homes on the same block — one at a low point with a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failing catch basin, one on a crest — pay the same premium.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Underwriters have no measured, coordinate-level signal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for which addresses pond. Cat modelers (RMS, Verisk)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lack sub-zone drainage granularity.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5303520" cy="4206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5303520" cy="457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0195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FOR CITIES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6888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Budgets follow complaints, not water.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10896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Streets get repaved over unresolved drainage and fail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again in 18 months. The loudest neighborhood wins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the budget; the most hydraulically stressed one doesn't.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Climate change compresses storms into shorter bursts —</a:t>
            </a:r>
          </a:p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1970s-era basins now see 2020s-era loads.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CurbRisk  ·  Cyvl Hackathon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CurbRisk: a measured, address-level flood score.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2594610" cy="155448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23202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LiDAR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23202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53.5M points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road-surface DEM</a:t>
            </a:r>
          </a:p>
        </p:txBody>
      </p:sp>
      <p:sp>
        <p:nvSpPr>
          <p:cNvPr id="9" name="Right Triangle 8"/>
          <p:cNvSpPr/>
          <p:nvPr/>
        </p:nvSpPr>
        <p:spPr>
          <a:xfrm rot="5400000">
            <a:off x="3280410" y="2697480"/>
            <a:ext cx="164592" cy="182880"/>
          </a:xfrm>
          <a:prstGeom prst="rtTriangl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7570" y="2011680"/>
            <a:ext cx="2594610" cy="155448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4730" y="2194560"/>
            <a:ext cx="23202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Hydrology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4730" y="2743200"/>
            <a:ext cx="23202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low-point detection,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catchment + 2-in ponding</a:t>
            </a:r>
          </a:p>
        </p:txBody>
      </p:sp>
      <p:sp>
        <p:nvSpPr>
          <p:cNvPr id="13" name="Right Triangle 12"/>
          <p:cNvSpPr/>
          <p:nvPr/>
        </p:nvSpPr>
        <p:spPr>
          <a:xfrm rot="5400000">
            <a:off x="6012180" y="2697480"/>
            <a:ext cx="164592" cy="182880"/>
          </a:xfrm>
          <a:prstGeom prst="rtTriangl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2011680"/>
            <a:ext cx="2594610" cy="155448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6500" y="2194560"/>
            <a:ext cx="23202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743200"/>
            <a:ext cx="23202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topo 40 / PCI 30 /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basin 20 / 311 10</a:t>
            </a:r>
          </a:p>
        </p:txBody>
      </p:sp>
      <p:sp>
        <p:nvSpPr>
          <p:cNvPr id="17" name="Right Triangle 16"/>
          <p:cNvSpPr/>
          <p:nvPr/>
        </p:nvSpPr>
        <p:spPr>
          <a:xfrm rot="5400000">
            <a:off x="8743950" y="2697480"/>
            <a:ext cx="164592" cy="182880"/>
          </a:xfrm>
          <a:prstGeom prst="rtTriangle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81110" y="2011680"/>
            <a:ext cx="2594610" cy="155448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18270" y="2194560"/>
            <a:ext cx="232029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Deliver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8270" y="2743200"/>
            <a:ext cx="232029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APS cross-section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+ address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023360"/>
            <a:ext cx="1078992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WHAT COMES 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805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A 0–100 CurbRisk score per street segment, a browser-viewable 3D cross-section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of every flagged low point, and an API an underwriter queries by address in &lt; 10 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6B7A8C"/>
                </a:solidFill>
                <a:latin typeface="Calibri"/>
              </a:rPr>
              <a:t>Demo footprint: 1 Somerville tile · 5,080 pavement sections · 381 catch basins · 145 flooding 311s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CurbRisk  ·  Cyvl Hackathon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WHY IT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Four data layers nobody else has integrated.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5394960" cy="1920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109728" cy="192024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Measured terrain, not assumed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42032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Calibri"/>
              </a:rPr>
              <a:t>Mobile LiDAR captures the 2-inch crown differential that 1-meter DEMs miss. We see where water actually goes.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5394960" cy="1920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109728" cy="1920240"/>
          </a:xfrm>
          <a:prstGeom prst="rect">
            <a:avLst/>
          </a:prstGeom>
          <a:solidFill>
            <a:srgbClr val="1E6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9339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Pavement + drainage in one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542032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Calibri"/>
              </a:rPr>
              <a:t>Cyvl PCI scores tell us where the road is already weak; terrain tells us where water lands on it. The intersection is where potholes reappear.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931920"/>
            <a:ext cx="5394960" cy="1920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931920"/>
            <a:ext cx="109728" cy="19202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965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311 as ground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45152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Calibri"/>
              </a:rPr>
              <a:t>144 Somerville flooding reports validate every modeled low point. If complaints cluster on our high-risk segments, the model is right.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31920"/>
            <a:ext cx="5394960" cy="192024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31920"/>
            <a:ext cx="109728" cy="192024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09651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Autodesk-ready, browser-viewable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45152"/>
            <a:ext cx="4937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B1F3A"/>
                </a:solidFill>
                <a:latin typeface="Calibri"/>
              </a:rPr>
              <a:t>Every flagged low point exports as an APS cross-section an underwriter opens in a browser — and a civil engineer opens in Civil 3D.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The moat: nobody else holds measured LiDAR + pavement condition + drainage hydrology + Autodesk delivery in one stack.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CurbRisk  ·  Cyvl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BUYERS &amp;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Two markets, one engine.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5394960" cy="4389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PRIMARY  ·  INSURANCE &amp;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Address-level flood 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·  Underwriters: per-query API at point of sale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·  Actuaries: portfolio loss exposure below the FEMA zone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·  Cat modelers (RMS, Verisk): bulk dataset license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Differentiates premiums between the crest house and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the low-point house on the same block.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394960" cy="43891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83080"/>
            <a:ext cx="5394960" cy="36576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SECONDARY  ·  MUNICIPAL DPW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3172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Defensible capital prioritization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0896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·  Stop repaving over unresolved drainage</a:t>
            </a:r>
          </a:p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·  Auto-generate MS4 / NPDES gap analysis</a:t>
            </a:r>
          </a:p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·  Hand civil engineers a Civil 3D starting model</a:t>
            </a:r>
          </a:p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·  Move to the front of FEMA BRIC / EPA CWSRF queues</a:t>
            </a:r>
          </a:p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0B1F3A"/>
                </a:solidFill>
                <a:latin typeface="Calibri"/>
              </a:rPr>
              <a:t>Replaces complaint-driven politics with a ranked, auditable list.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CurbRisk  ·  Cyvl Hackathon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E9CDB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0B1F3A"/>
                </a:solidFill>
                <a:latin typeface="Calibri"/>
              </a:rPr>
              <a:t>Address in. Drainage risk out. Under 10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03120"/>
            <a:ext cx="3291840" cy="914400"/>
          </a:xfrm>
          <a:prstGeom prst="rect">
            <a:avLst/>
          </a:prstGeom>
          <a:solidFill>
            <a:srgbClr val="F2F5F8"/>
          </a:solidFill>
          <a:ln w="9525">
            <a:solidFill>
              <a:srgbClr val="2E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9CDB"/>
                </a:solidFill>
                <a:latin typeface="Calibri"/>
              </a:rPr>
              <a:t>JUDGE ENTERS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93 Highland Ave</a:t>
            </a:r>
          </a:p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Somerville, MA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2377440"/>
            <a:ext cx="548640" cy="365760"/>
          </a:xfrm>
          <a:prstGeom prst="rightArrow">
            <a:avLst/>
          </a:prstGeom>
          <a:solidFill>
            <a:srgbClr val="2E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0" y="2103120"/>
            <a:ext cx="32918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945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2E9CDB"/>
                </a:solidFill>
                <a:latin typeface="Calibri"/>
              </a:rPr>
              <a:t>CURBRISK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4688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Geocode → segment lookup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SQLite score cache hit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275320" y="2377440"/>
            <a:ext cx="548640" cy="365760"/>
          </a:xfrm>
          <a:prstGeom prst="rightArrow">
            <a:avLst/>
          </a:prstGeom>
          <a:solidFill>
            <a:srgbClr val="2E9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2103120"/>
            <a:ext cx="2743200" cy="914400"/>
          </a:xfrm>
          <a:prstGeom prst="rect">
            <a:avLst/>
          </a:prstGeom>
          <a:solidFill>
            <a:srgbClr val="E0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2194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CURBRISK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246888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78 / 100  ·  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10789920" cy="228600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94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2E9CDB"/>
                </a:solidFill>
                <a:latin typeface="Calibri"/>
              </a:rPr>
              <a:t>RESPONSE PAYLOAD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605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·  Score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605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topo 32 · pavement 21 · basin 18 · complaints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0799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·  LiDAR geometry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450799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low-point depth, 2-in ponding volume, catchment polygon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85546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·  311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4855464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3 flooding reports within 100 m since 2023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20293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·  APS cross-section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202936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browser-viewable 3D profile — no CAD software 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5504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·  Recommended 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555040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clear upstream basin; do not resurface until drainage resolved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CurbRisk  ·  Cyvl Hackathon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4572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2E9CDB"/>
                </a:solidFill>
                <a:latin typeface="Calibri"/>
              </a:rPr>
              <a:t>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From one Somerville tile to a city-wide risk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3566160" cy="36576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Hackathon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One Somerville tile end-to-end. Address → score + APS cross-section in &lt; 10 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37744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2377440"/>
            <a:ext cx="3566160" cy="36576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4231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Paid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4290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$20–50K fixed-scope study with a Somerville-style city. One paving package, one Autodesk model, one reference customer.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377440"/>
            <a:ext cx="3566160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377440"/>
            <a:ext cx="3566160" cy="365760"/>
          </a:xfrm>
          <a:prstGeom prst="rect">
            <a:avLst/>
          </a:prstGeom>
          <a:solidFill>
            <a:srgbClr val="2E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423160"/>
            <a:ext cx="3566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803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Calibri"/>
              </a:rPr>
              <a:t>Insurer dataset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4290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0B1F3A"/>
                </a:solidFill>
                <a:latin typeface="Calibri"/>
              </a:rPr>
              <a:t>Bulk drainage-risk layer for one metro area, licensed to a cat modeler. Recurring revenue, no per-city sales 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E9CDB"/>
                </a:solidFill>
                <a:latin typeface="Calibri"/>
              </a:rPr>
              <a:t>Stop pricing flood risk with a map that ends at the parcel.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064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Start pricing it with the one that ends at the curb.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5562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CurbRisk  ·  Cyvl Hackathon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5624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